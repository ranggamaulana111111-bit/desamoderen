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9728" cy="1371600"/>
          </a:xfrm>
          <a:prstGeom prst="rect">
            <a:avLst/>
          </a:prstGeom>
          <a:solidFill>
            <a:srgbClr val="F3C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868680"/>
            <a:ext cx="96012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3C623"/>
                </a:solidFill>
                <a:latin typeface="Segoe UI"/>
              </a:rPr>
              <a:t>Pengabdian kepada Masyarakat (PKM)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00200"/>
            <a:ext cx="102412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FFFFFF"/>
                </a:solidFill>
                <a:latin typeface="Segoe UI"/>
              </a:rPr>
              <a:t>Pengembangan Sistem Informasi Layanan Administrasi</a:t>
            </a:r>
          </a:p>
          <a:p>
            <a:pPr algn="l">
              <a:lnSpc>
                <a:spcPct val="110000"/>
              </a:lnSpc>
            </a:pPr>
            <a:r>
              <a:rPr sz="3400" b="1">
                <a:solidFill>
                  <a:srgbClr val="FFFFFF"/>
                </a:solidFill>
                <a:latin typeface="Segoe UI"/>
              </a:rPr>
              <a:t>Berbasis Web sebagai Upaya Meningkatkan Efisiensi di Desa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70332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DDF0DD"/>
                </a:solidFill>
                <a:latin typeface="Segoe UI"/>
              </a:rPr>
              <a:t>PRODESA - Portal Desa Digital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4440" y="4206240"/>
            <a:ext cx="3017520" cy="457200"/>
          </a:xfrm>
          <a:prstGeom prst="rect">
            <a:avLst/>
          </a:prstGeom>
          <a:solidFill>
            <a:srgbClr val="F3C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400" b="1">
                <a:solidFill>
                  <a:srgbClr val="1B5E20"/>
                </a:solidFill>
                <a:latin typeface="Segoe UI"/>
              </a:rPr>
              <a:t>Workshop Perangkat Desa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4206240"/>
            <a:ext cx="6217920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Desa Kumpay  |  Kec. Banjarsari  |  Kab. Lebak  |  Banten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566928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DDF0DD"/>
                </a:solidFill>
                <a:latin typeface="Segoe UI"/>
              </a:rPr>
              <a:t>Diselenggarakan oleh Tim Pengabdian kepada Masyarakat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3C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144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Agenda Workshop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09960" y="201168"/>
            <a:ext cx="868680" cy="502920"/>
          </a:xfrm>
          <a:prstGeom prst="rect">
            <a:avLst/>
          </a:prstGeom>
          <a:solidFill>
            <a:srgbClr val="F3C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800" b="1">
                <a:solidFill>
                  <a:srgbClr val="1B5E20"/>
                </a:solidFill>
                <a:latin typeface="Segoe U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782"/>
                </a:solidFill>
                <a:latin typeface="Segoe UI"/>
              </a:rPr>
              <a:t>Prodesa  |  PKM - Workshop  |  Desa Kumpay, Kec. Banjarsari, Kab. Lebak - Banten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02920" cy="411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41732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222B33"/>
                </a:solidFill>
                <a:latin typeface="Segoe UI"/>
              </a:rPr>
              <a:t>Pendahuluan: Latar Belakang, Rumusan Masalah, dan Tujuan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84248"/>
            <a:ext cx="502920" cy="411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984248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222B33"/>
                </a:solidFill>
                <a:latin typeface="Segoe UI"/>
              </a:rPr>
              <a:t>Metode Pelaksanaan Kegiatan PKM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51176"/>
            <a:ext cx="502920" cy="411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551176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222B33"/>
                </a:solidFill>
                <a:latin typeface="Segoe UI"/>
              </a:rPr>
              <a:t>Sekilas Sistem  PRODESA  (Portal Desa Digital)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118104"/>
            <a:ext cx="502920" cy="411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118104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222B33"/>
                </a:solidFill>
                <a:latin typeface="Segoe UI"/>
              </a:rPr>
              <a:t>Fitur Layanan untuk Warga dan Perangkat Desa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685032"/>
            <a:ext cx="502920" cy="411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685032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222B33"/>
                </a:solidFill>
                <a:latin typeface="Segoe UI"/>
              </a:rPr>
              <a:t>Alur Proses Persetujuan Surat dan Jenis Surat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251960"/>
            <a:ext cx="502920" cy="411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25196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222B33"/>
                </a:solidFill>
                <a:latin typeface="Segoe UI"/>
              </a:rPr>
              <a:t>Keamanan Sistem dan Teknologi yang Digunakan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818888"/>
            <a:ext cx="502920" cy="411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818888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222B33"/>
                </a:solidFill>
                <a:latin typeface="Segoe UI"/>
              </a:rPr>
              <a:t>Dampak, Manfaat, Kesimpulan, dan Rencana Tindak Lanjut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385816"/>
            <a:ext cx="502920" cy="411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385816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222B33"/>
                </a:solidFill>
                <a:latin typeface="Segoe UI"/>
              </a:rPr>
              <a:t>Sesi Tanya Jawab dan Demo Aplikasi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528816"/>
            <a:ext cx="109728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Segoe UI"/>
              </a:rPr>
              <a:t>Prodesa | Portal Desa Digital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3C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144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Latar Belakang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09960" y="201168"/>
            <a:ext cx="868680" cy="502920"/>
          </a:xfrm>
          <a:prstGeom prst="rect">
            <a:avLst/>
          </a:prstGeom>
          <a:solidFill>
            <a:srgbClr val="F3C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800" b="1">
                <a:solidFill>
                  <a:srgbClr val="1B5E20"/>
                </a:solidFill>
                <a:latin typeface="Segoe U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782"/>
                </a:solidFill>
                <a:latin typeface="Segoe UI"/>
              </a:rPr>
              <a:t>Prodesa  |  PKM - Workshop  |  Desa Kumpay, Kec. Banjarsari, Kab. Lebak - Banten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6309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2E7D32"/>
                </a:solidFill>
                <a:latin typeface="Segoe UI"/>
              </a:rPr>
              <a:t>■  </a:t>
            </a:r>
            <a:r>
              <a:rPr sz="1600" b="1">
                <a:solidFill>
                  <a:srgbClr val="222B33"/>
                </a:solidFill>
                <a:latin typeface="Segoe UI"/>
              </a:rPr>
              <a:t>Pelayanan konvensional: </a:t>
            </a:r>
            <a:r>
              <a:rPr sz="1600">
                <a:solidFill>
                  <a:srgbClr val="222B33"/>
                </a:solidFill>
                <a:latin typeface="Segoe UI"/>
              </a:rPr>
              <a:t>warga harus datang ke kantor desa, membawa berkas fisik, dan mengikuti prosedur manual yang lama.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2E7D32"/>
                </a:solidFill>
                <a:latin typeface="Segoe UI"/>
              </a:rPr>
              <a:t>■  </a:t>
            </a:r>
            <a:r>
              <a:rPr sz="1600" b="1">
                <a:solidFill>
                  <a:srgbClr val="222B33"/>
                </a:solidFill>
                <a:latin typeface="Segoe UI"/>
              </a:rPr>
              <a:t>Pencatatan manual: </a:t>
            </a:r>
            <a:r>
              <a:rPr sz="1600">
                <a:solidFill>
                  <a:srgbClr val="222B33"/>
                </a:solidFill>
                <a:latin typeface="Segoe UI"/>
              </a:rPr>
              <a:t>data surat, arsip, dan administrasi masih tersebar di buku agenda, rawan hilang/rusak.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2E7D32"/>
                </a:solidFill>
                <a:latin typeface="Segoe UI"/>
              </a:rPr>
              <a:t>■  </a:t>
            </a:r>
            <a:r>
              <a:rPr sz="1600" b="1">
                <a:solidFill>
                  <a:srgbClr val="222B33"/>
                </a:solidFill>
                <a:latin typeface="Segoe UI"/>
              </a:rPr>
              <a:t>Antrean panjang: </a:t>
            </a:r>
            <a:r>
              <a:rPr sz="1600">
                <a:solidFill>
                  <a:srgbClr val="222B33"/>
                </a:solidFill>
                <a:latin typeface="Segoe UI"/>
              </a:rPr>
              <a:t>proses pengurusan surat yang berjenjang sering membuat warga menunggu berulang kali.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2E7D32"/>
                </a:solidFill>
                <a:latin typeface="Segoe UI"/>
              </a:rPr>
              <a:t>■  </a:t>
            </a:r>
            <a:r>
              <a:rPr sz="1600" b="1">
                <a:solidFill>
                  <a:srgbClr val="222B33"/>
                </a:solidFill>
                <a:latin typeface="Segoe UI"/>
              </a:rPr>
              <a:t>Kurang transparan: </a:t>
            </a:r>
            <a:r>
              <a:rPr sz="1600">
                <a:solidFill>
                  <a:srgbClr val="222B33"/>
                </a:solidFill>
                <a:latin typeface="Segoe UI"/>
              </a:rPr>
              <a:t>warga sulit mengetahui status dan perkembangan pengajuan suratnya.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2E7D32"/>
                </a:solidFill>
                <a:latin typeface="Segoe UI"/>
              </a:rPr>
              <a:t>■  </a:t>
            </a:r>
            <a:r>
              <a:rPr sz="1600" b="1">
                <a:solidFill>
                  <a:srgbClr val="222B33"/>
                </a:solidFill>
                <a:latin typeface="Segoe UI"/>
              </a:rPr>
              <a:t>Keterbatasan SDM: </a:t>
            </a:r>
            <a:r>
              <a:rPr sz="1600">
                <a:solidFill>
                  <a:srgbClr val="222B33"/>
                </a:solidFill>
                <a:latin typeface="Segoe UI"/>
              </a:rPr>
              <a:t>perangkat desa terbebani pekerjaan administratif yang berulang dan tidak terdokumentasi dengan rapi.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325880"/>
            <a:ext cx="4251960" cy="4846320"/>
          </a:xfrm>
          <a:prstGeom prst="rect">
            <a:avLst/>
          </a:prstGeom>
          <a:solidFill>
            <a:srgbClr val="DD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1325880"/>
            <a:ext cx="4251960" cy="5943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371600"/>
            <a:ext cx="3931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Permasalahan yang Dihadapi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2103120"/>
            <a:ext cx="1463040" cy="64008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Lambat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103120"/>
            <a:ext cx="23317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22B33"/>
                </a:solidFill>
                <a:latin typeface="Segoe UI"/>
              </a:rPr>
              <a:t>proses penerbitan surat administrasi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3090672"/>
            <a:ext cx="1463040" cy="64008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Ribet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3090672"/>
            <a:ext cx="23317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22B33"/>
                </a:solidFill>
                <a:latin typeface="Segoe UI"/>
              </a:rPr>
              <a:t>berkas ganda &amp; silang antar bagian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79" y="4078224"/>
            <a:ext cx="1463040" cy="64008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Rentan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4078224"/>
            <a:ext cx="23317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22B33"/>
                </a:solidFill>
                <a:latin typeface="Segoe UI"/>
              </a:rPr>
              <a:t>data tidak terpusat &amp; rawan kehilangan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79" y="5065776"/>
            <a:ext cx="1463040" cy="64008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Nontransparan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5065776"/>
            <a:ext cx="23317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22B33"/>
                </a:solidFill>
                <a:latin typeface="Segoe UI"/>
              </a:rPr>
              <a:t>status layanan tidak diketahui warga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109728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Segoe UI"/>
              </a:rPr>
              <a:t>Prodesa | Portal Desa Digital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3C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144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Rumusan Masalah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09960" y="201168"/>
            <a:ext cx="868680" cy="502920"/>
          </a:xfrm>
          <a:prstGeom prst="rect">
            <a:avLst/>
          </a:prstGeom>
          <a:solidFill>
            <a:srgbClr val="F3C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800" b="1">
                <a:solidFill>
                  <a:srgbClr val="1B5E20"/>
                </a:solidFill>
                <a:latin typeface="Segoe U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782"/>
                </a:solidFill>
                <a:latin typeface="Segoe UI"/>
              </a:rPr>
              <a:t>Prodesa  |  PKM - Workshop  |  Desa Kumpay, Kec. Banjarsari, Kab. Lebak - Banten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0"/>
              </a:spcAft>
            </a:pPr>
            <a:r>
              <a:rPr sz="1800" b="1">
                <a:solidFill>
                  <a:srgbClr val="2E7D32"/>
                </a:solidFill>
                <a:latin typeface="Segoe UI"/>
              </a:rPr>
              <a:t>1.  </a:t>
            </a:r>
            <a:r>
              <a:rPr sz="1800" b="1">
                <a:solidFill>
                  <a:srgbClr val="222B33"/>
                </a:solidFill>
                <a:latin typeface="Segoe UI"/>
              </a:rPr>
              <a:t>Bagaimana membangun sistem informasi layanan administrasi desa yang mudah digunakan warga? </a:t>
            </a:r>
            <a:r>
              <a:rPr sz="1800">
                <a:solidFill>
                  <a:srgbClr val="222B33"/>
                </a:solidFill>
                <a:latin typeface="Segoe UI"/>
              </a:rPr>
              <a:t/>
            </a:r>
          </a:p>
          <a:p>
            <a:pPr>
              <a:lnSpc>
                <a:spcPct val="115000"/>
              </a:lnSpc>
              <a:spcAft>
                <a:spcPts val="2000"/>
              </a:spcAft>
            </a:pPr>
            <a:r>
              <a:rPr sz="1800" b="1">
                <a:solidFill>
                  <a:srgbClr val="2E7D32"/>
                </a:solidFill>
                <a:latin typeface="Segoe UI"/>
              </a:rPr>
              <a:t>2.  </a:t>
            </a:r>
            <a:r>
              <a:rPr sz="1800" b="1">
                <a:solidFill>
                  <a:srgbClr val="222B33"/>
                </a:solidFill>
                <a:latin typeface="Segoe UI"/>
              </a:rPr>
              <a:t>Bagaimana merancang alur persetujuan (workflow) surat yang cepat, berjenjang dan terdokumentasi? </a:t>
            </a:r>
            <a:r>
              <a:rPr sz="1800">
                <a:solidFill>
                  <a:srgbClr val="222B33"/>
                </a:solidFill>
                <a:latin typeface="Segoe UI"/>
              </a:rPr>
              <a:t/>
            </a:r>
          </a:p>
          <a:p>
            <a:pPr>
              <a:lnSpc>
                <a:spcPct val="115000"/>
              </a:lnSpc>
              <a:spcAft>
                <a:spcPts val="2000"/>
              </a:spcAft>
            </a:pPr>
            <a:r>
              <a:rPr sz="1800" b="1">
                <a:solidFill>
                  <a:srgbClr val="2E7D32"/>
                </a:solidFill>
                <a:latin typeface="Segoe UI"/>
              </a:rPr>
              <a:t>3.  </a:t>
            </a:r>
            <a:r>
              <a:rPr sz="1800" b="1">
                <a:solidFill>
                  <a:srgbClr val="222B33"/>
                </a:solidFill>
                <a:latin typeface="Segoe UI"/>
              </a:rPr>
              <a:t>Bagaimana mendigitalkan arsip, ketatausahaan, aset, dan laporan desa agar terpusat dan akurat? </a:t>
            </a:r>
            <a:r>
              <a:rPr sz="1800">
                <a:solidFill>
                  <a:srgbClr val="222B33"/>
                </a:solidFill>
                <a:latin typeface="Segoe UI"/>
              </a:rPr>
              <a:t/>
            </a:r>
          </a:p>
          <a:p>
            <a:pPr>
              <a:lnSpc>
                <a:spcPct val="115000"/>
              </a:lnSpc>
              <a:spcAft>
                <a:spcPts val="2000"/>
              </a:spcAft>
            </a:pPr>
            <a:r>
              <a:rPr sz="1800" b="1">
                <a:solidFill>
                  <a:srgbClr val="2E7D32"/>
                </a:solidFill>
                <a:latin typeface="Segoe UI"/>
              </a:rPr>
              <a:t>4.  </a:t>
            </a:r>
            <a:r>
              <a:rPr sz="1800" b="1">
                <a:solidFill>
                  <a:srgbClr val="222B33"/>
                </a:solidFill>
                <a:latin typeface="Segoe UI"/>
              </a:rPr>
              <a:t>Bagaimana menjaga keamanan data kependudukan dan transparansi proses layanan? </a:t>
            </a:r>
            <a:r>
              <a:rPr sz="1800">
                <a:solidFill>
                  <a:srgbClr val="222B33"/>
                </a:solidFill>
                <a:latin typeface="Segoe UI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28816"/>
            <a:ext cx="109728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Segoe UI"/>
              </a:rPr>
              <a:t>Prodesa | Portal Desa Digital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3C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144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Tujuan Kegiatan PKM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09960" y="201168"/>
            <a:ext cx="868680" cy="502920"/>
          </a:xfrm>
          <a:prstGeom prst="rect">
            <a:avLst/>
          </a:prstGeom>
          <a:solidFill>
            <a:srgbClr val="F3C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800" b="1">
                <a:solidFill>
                  <a:srgbClr val="1B5E20"/>
                </a:solidFill>
                <a:latin typeface="Segoe U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782"/>
                </a:solidFill>
                <a:latin typeface="Segoe UI"/>
              </a:rPr>
              <a:t>Prodesa  |  PKM - Workshop  |  Desa Kumpay, Kec. Banjarsari, Kab. Lebak - Banten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800" b="1">
                <a:solidFill>
                  <a:srgbClr val="2E7D32"/>
                </a:solidFill>
                <a:latin typeface="Segoe UI"/>
              </a:rPr>
              <a:t>1.  </a:t>
            </a:r>
            <a:r>
              <a:rPr sz="1800" b="1">
                <a:solidFill>
                  <a:srgbClr val="222B33"/>
                </a:solidFill>
                <a:latin typeface="Segoe UI"/>
              </a:rPr>
              <a:t>Mengembangkan </a:t>
            </a:r>
            <a:r>
              <a:rPr sz="1800">
                <a:solidFill>
                  <a:srgbClr val="222B33"/>
                </a:solidFill>
                <a:latin typeface="Segoe UI"/>
              </a:rPr>
              <a:t>sistem informasi layanan administrasi berbasis web (PRODESA) untuk Desa Kumpay.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800" b="1">
                <a:solidFill>
                  <a:srgbClr val="2E7D32"/>
                </a:solidFill>
                <a:latin typeface="Segoe UI"/>
              </a:rPr>
              <a:t>2.  </a:t>
            </a:r>
            <a:r>
              <a:rPr sz="1800" b="1">
                <a:solidFill>
                  <a:srgbClr val="222B33"/>
                </a:solidFill>
                <a:latin typeface="Segoe UI"/>
              </a:rPr>
              <a:t>Meningkatkan </a:t>
            </a:r>
            <a:r>
              <a:rPr sz="1800">
                <a:solidFill>
                  <a:srgbClr val="222B33"/>
                </a:solidFill>
                <a:latin typeface="Segoe UI"/>
              </a:rPr>
              <a:t>efisiensi &amp; kecepatan proses pelayanan surat dan administrasi desa.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800" b="1">
                <a:solidFill>
                  <a:srgbClr val="2E7D32"/>
                </a:solidFill>
                <a:latin typeface="Segoe UI"/>
              </a:rPr>
              <a:t>3.  </a:t>
            </a:r>
            <a:r>
              <a:rPr sz="1800" b="1">
                <a:solidFill>
                  <a:srgbClr val="222B33"/>
                </a:solidFill>
                <a:latin typeface="Segoe UI"/>
              </a:rPr>
              <a:t>Mewujudkan </a:t>
            </a:r>
            <a:r>
              <a:rPr sz="1800">
                <a:solidFill>
                  <a:srgbClr val="222B33"/>
                </a:solidFill>
                <a:latin typeface="Segoe UI"/>
              </a:rPr>
              <a:t>transparansi: warga dapat memantau status layanan secara real-time.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800" b="1">
                <a:solidFill>
                  <a:srgbClr val="2E7D32"/>
                </a:solidFill>
                <a:latin typeface="Segoe UI"/>
              </a:rPr>
              <a:t>4.  </a:t>
            </a:r>
            <a:r>
              <a:rPr sz="1800" b="1">
                <a:solidFill>
                  <a:srgbClr val="222B33"/>
                </a:solidFill>
                <a:latin typeface="Segoe UI"/>
              </a:rPr>
              <a:t>Menata </a:t>
            </a:r>
            <a:r>
              <a:rPr sz="1800">
                <a:solidFill>
                  <a:srgbClr val="222B33"/>
                </a:solidFill>
                <a:latin typeface="Segoe UI"/>
              </a:rPr>
              <a:t>digitalisasi arsip, ketatausahaan, aset, dan laporan desa.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800" b="1">
                <a:solidFill>
                  <a:srgbClr val="2E7D32"/>
                </a:solidFill>
                <a:latin typeface="Segoe UI"/>
              </a:rPr>
              <a:t>5.  </a:t>
            </a:r>
            <a:r>
              <a:rPr sz="1800" b="1">
                <a:solidFill>
                  <a:srgbClr val="222B33"/>
                </a:solidFill>
                <a:latin typeface="Segoe UI"/>
              </a:rPr>
              <a:t>Membangun </a:t>
            </a:r>
            <a:r>
              <a:rPr sz="1800">
                <a:solidFill>
                  <a:srgbClr val="222B33"/>
                </a:solidFill>
                <a:latin typeface="Segoe UI"/>
              </a:rPr>
              <a:t>kapasitas perangkat desa melalui pelatihan pengoperasian sistem.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28816"/>
            <a:ext cx="109728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Segoe UI"/>
              </a:rPr>
              <a:t>Prodesa | Portal Desa Digital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3C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144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Metode Pelaksanaan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09960" y="201168"/>
            <a:ext cx="868680" cy="502920"/>
          </a:xfrm>
          <a:prstGeom prst="rect">
            <a:avLst/>
          </a:prstGeom>
          <a:solidFill>
            <a:srgbClr val="F3C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800" b="1">
                <a:solidFill>
                  <a:srgbClr val="1B5E20"/>
                </a:solidFill>
                <a:latin typeface="Segoe U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782"/>
                </a:solidFill>
                <a:latin typeface="Segoe UI"/>
              </a:rPr>
              <a:t>Prodesa  |  PKM - Workshop  |  Desa Kumpay, Kec. Banjarsari, Kab. Lebak - Banten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3566160" cy="2103120"/>
          </a:xfrm>
          <a:prstGeom prst="rect">
            <a:avLst/>
          </a:prstGeom>
          <a:solidFill>
            <a:srgbClr val="DD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3566160" cy="109728"/>
          </a:xfrm>
          <a:prstGeom prst="rect">
            <a:avLst/>
          </a:prstGeom>
          <a:solidFill>
            <a:srgbClr val="F3C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74520" y="1645920"/>
            <a:ext cx="822960" cy="82296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3291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500" b="1">
                <a:solidFill>
                  <a:srgbClr val="1B5E20"/>
                </a:solidFill>
                <a:latin typeface="Segoe UI"/>
              </a:rPr>
              <a:t>Analisis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1B5E20"/>
                </a:solidFill>
                <a:latin typeface="Segoe UI"/>
              </a:rPr>
              <a:t>Kebutuhan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15468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B33"/>
                </a:solidFill>
                <a:latin typeface="Segoe UI"/>
              </a:rPr>
              <a:t>Wawancara &amp; observasi layanan administrasi di Desa Kumpay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5112" y="1417320"/>
            <a:ext cx="3566160" cy="2103120"/>
          </a:xfrm>
          <a:prstGeom prst="rect">
            <a:avLst/>
          </a:prstGeom>
          <a:solidFill>
            <a:srgbClr val="DD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3566160" cy="109728"/>
          </a:xfrm>
          <a:prstGeom prst="rect">
            <a:avLst/>
          </a:prstGeom>
          <a:solidFill>
            <a:srgbClr val="F3C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696712" y="1645920"/>
            <a:ext cx="822960" cy="82296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2560320"/>
            <a:ext cx="3291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500" b="1">
                <a:solidFill>
                  <a:srgbClr val="1B5E20"/>
                </a:solidFill>
                <a:latin typeface="Segoe UI"/>
              </a:rPr>
              <a:t>Perancangan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1B5E20"/>
                </a:solidFill>
                <a:latin typeface="Segoe UI"/>
              </a:rPr>
              <a:t>Sistem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315468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B33"/>
                </a:solidFill>
                <a:latin typeface="Segoe UI"/>
              </a:rPr>
              <a:t>Desain alur layanan, database, dan antarmuka (UI)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47304" y="1417320"/>
            <a:ext cx="3566160" cy="2103120"/>
          </a:xfrm>
          <a:prstGeom prst="rect">
            <a:avLst/>
          </a:prstGeom>
          <a:solidFill>
            <a:srgbClr val="DD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47304" y="1417320"/>
            <a:ext cx="3566160" cy="109728"/>
          </a:xfrm>
          <a:prstGeom prst="rect">
            <a:avLst/>
          </a:prstGeom>
          <a:solidFill>
            <a:srgbClr val="F3C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518904" y="1645920"/>
            <a:ext cx="822960" cy="82296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2560320"/>
            <a:ext cx="3291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500" b="1">
                <a:solidFill>
                  <a:srgbClr val="1B5E20"/>
                </a:solidFill>
                <a:latin typeface="Segoe UI"/>
              </a:rPr>
              <a:t>Pengembangan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1B5E20"/>
                </a:solidFill>
                <a:latin typeface="Segoe UI"/>
              </a:rPr>
              <a:t>Aplikasi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0184" y="315468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B33"/>
                </a:solidFill>
                <a:latin typeface="Segoe UI"/>
              </a:rPr>
              <a:t>Pembangunan web PRODESA (Laravel + MySQL)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840480"/>
            <a:ext cx="3566160" cy="2103120"/>
          </a:xfrm>
          <a:prstGeom prst="rect">
            <a:avLst/>
          </a:prstGeom>
          <a:solidFill>
            <a:srgbClr val="DD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840480"/>
            <a:ext cx="3566160" cy="109728"/>
          </a:xfrm>
          <a:prstGeom prst="rect">
            <a:avLst/>
          </a:prstGeom>
          <a:solidFill>
            <a:srgbClr val="F3C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874520" y="4069080"/>
            <a:ext cx="822960" cy="82296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983480"/>
            <a:ext cx="3291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500" b="1">
                <a:solidFill>
                  <a:srgbClr val="1B5E20"/>
                </a:solidFill>
                <a:latin typeface="Segoe UI"/>
              </a:rPr>
              <a:t>Pengujian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1B5E20"/>
                </a:solidFill>
                <a:latin typeface="Segoe UI"/>
              </a:rPr>
              <a:t>Sistem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57784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B33"/>
                </a:solidFill>
                <a:latin typeface="Segoe UI"/>
              </a:rPr>
              <a:t>Uji fungsional alur surat, keamanan, dan konfigurasi desa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25112" y="3840480"/>
            <a:ext cx="3566160" cy="2103120"/>
          </a:xfrm>
          <a:prstGeom prst="rect">
            <a:avLst/>
          </a:prstGeom>
          <a:solidFill>
            <a:srgbClr val="DD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25112" y="3840480"/>
            <a:ext cx="3566160" cy="109728"/>
          </a:xfrm>
          <a:prstGeom prst="rect">
            <a:avLst/>
          </a:prstGeom>
          <a:solidFill>
            <a:srgbClr val="F3C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696712" y="4069080"/>
            <a:ext cx="822960" cy="82296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62272" y="4983480"/>
            <a:ext cx="3291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500" b="1">
                <a:solidFill>
                  <a:srgbClr val="1B5E20"/>
                </a:solidFill>
                <a:latin typeface="Segoe UI"/>
              </a:rPr>
              <a:t>Pelatihan &amp;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1B5E20"/>
                </a:solidFill>
                <a:latin typeface="Segoe UI"/>
              </a:rPr>
              <a:t>Sosialisasi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07992" y="557784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B33"/>
                </a:solidFill>
                <a:latin typeface="Segoe UI"/>
              </a:rPr>
              <a:t>Workshop &amp; pendampingan perangkat desa dan warga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47304" y="3840480"/>
            <a:ext cx="3566160" cy="2103120"/>
          </a:xfrm>
          <a:prstGeom prst="rect">
            <a:avLst/>
          </a:prstGeom>
          <a:solidFill>
            <a:srgbClr val="DD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47304" y="3840480"/>
            <a:ext cx="3566160" cy="109728"/>
          </a:xfrm>
          <a:prstGeom prst="rect">
            <a:avLst/>
          </a:prstGeom>
          <a:solidFill>
            <a:srgbClr val="F3C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518904" y="4069080"/>
            <a:ext cx="822960" cy="82296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84464" y="4983480"/>
            <a:ext cx="3291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500" b="1">
                <a:solidFill>
                  <a:srgbClr val="1B5E20"/>
                </a:solidFill>
                <a:latin typeface="Segoe UI"/>
              </a:rPr>
              <a:t>Pendampingan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1B5E20"/>
                </a:solidFill>
                <a:latin typeface="Segoe UI"/>
              </a:rPr>
              <a:t>&amp; Evaluasi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0184" y="557784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B33"/>
                </a:solidFill>
                <a:latin typeface="Segoe UI"/>
              </a:rPr>
              <a:t>Pemeliharaan, backup data, dan pengembangan lanjutan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6528816"/>
            <a:ext cx="109728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Segoe UI"/>
              </a:rPr>
              <a:t>Prodesa | Portal Desa Digital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3C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144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Sekilas PRODESA - Portal Desa Digital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09960" y="201168"/>
            <a:ext cx="868680" cy="502920"/>
          </a:xfrm>
          <a:prstGeom prst="rect">
            <a:avLst/>
          </a:prstGeom>
          <a:solidFill>
            <a:srgbClr val="F3C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800" b="1">
                <a:solidFill>
                  <a:srgbClr val="1B5E20"/>
                </a:solidFill>
                <a:latin typeface="Segoe U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782"/>
                </a:solidFill>
                <a:latin typeface="Segoe UI"/>
              </a:rPr>
              <a:t>Prodesa  |  PKM - Workshop  |  Desa Kumpay, Kec. Banjarsari, Kab. Lebak - Banten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6766560" cy="4663440"/>
          </a:xfrm>
          <a:prstGeom prst="rect">
            <a:avLst/>
          </a:prstGeom>
          <a:solidFill>
            <a:srgbClr val="DD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6217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222B33"/>
                </a:solidFill>
                <a:latin typeface="Segoe UI"/>
              </a:rPr>
              <a:t>Sistem Informasi Pemerintahan Desa berbasis web untuk digitalisasi pelayanan administrasi kependudukan, ketatausahaan, aset, anggaran, dan laporan desa.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606040"/>
            <a:ext cx="1828800" cy="5486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Pengguna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606040"/>
            <a:ext cx="4389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22B33"/>
                </a:solidFill>
                <a:latin typeface="Segoe UI"/>
              </a:rPr>
              <a:t>Warga, Perangkat Desa, Pemerintah Desa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447288"/>
            <a:ext cx="1828800" cy="5486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Layanan Surat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447288"/>
            <a:ext cx="4389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22B33"/>
                </a:solidFill>
                <a:latin typeface="Segoe UI"/>
              </a:rPr>
              <a:t>14 jenis surat keterangan resmi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288536"/>
            <a:ext cx="1828800" cy="5486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Akses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288536"/>
            <a:ext cx="4389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22B33"/>
                </a:solidFill>
                <a:latin typeface="Segoe UI"/>
              </a:rPr>
              <a:t>Web responsive (HP/komputer) + QR Code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5129784"/>
            <a:ext cx="1828800" cy="5486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5129784"/>
            <a:ext cx="4389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22B33"/>
                </a:solidFill>
                <a:latin typeface="Segoe UI"/>
              </a:rPr>
              <a:t>Open source, gratis, dapat dikembangkan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0" y="1325880"/>
            <a:ext cx="3886200" cy="466344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1554480"/>
            <a:ext cx="3383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3C623"/>
                </a:solidFill>
                <a:latin typeface="Segoe UI"/>
              </a:rPr>
              <a:t>Teknologi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79" y="2240280"/>
            <a:ext cx="3383280" cy="3840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Laravel 11 + PHP 8.2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79" y="2724912"/>
            <a:ext cx="3383280" cy="3840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MySQL 8 (server desa)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79" y="3209544"/>
            <a:ext cx="3383280" cy="3840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Tailwind CSS + Alpine.js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79" y="3694176"/>
            <a:ext cx="3383280" cy="3840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Chart.js (statistik)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79" y="4178808"/>
            <a:ext cx="3383280" cy="3840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PDF Generator (DomPDF)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5279" y="4663440"/>
            <a:ext cx="3383280" cy="3840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QR Code + Scanner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79" y="5148072"/>
            <a:ext cx="3383280" cy="3840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Spatie Permission (RBAC)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5632704"/>
            <a:ext cx="3383280" cy="3840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Telegram Bot Notifikasi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528816"/>
            <a:ext cx="109728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Segoe UI"/>
              </a:rPr>
              <a:t>Prodesa | Portal Desa Digital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3C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144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Arsitektur Sistem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09960" y="201168"/>
            <a:ext cx="868680" cy="502920"/>
          </a:xfrm>
          <a:prstGeom prst="rect">
            <a:avLst/>
          </a:prstGeom>
          <a:solidFill>
            <a:srgbClr val="F3C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800" b="1">
                <a:solidFill>
                  <a:srgbClr val="1B5E20"/>
                </a:solidFill>
                <a:latin typeface="Segoe U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782"/>
                </a:solidFill>
                <a:latin typeface="Segoe UI"/>
              </a:rPr>
              <a:t>Prodesa  |  PKM - Workshop  |  Desa Kumpay, Kec. Banjarsari, Kab. Lebak - Banten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1508760"/>
            <a:ext cx="640080" cy="640080"/>
          </a:xfrm>
          <a:prstGeom prst="rect">
            <a:avLst/>
          </a:prstGeom>
          <a:solidFill>
            <a:srgbClr val="F3C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2200" b="1">
                <a:solidFill>
                  <a:srgbClr val="1B5E20"/>
                </a:solidFill>
                <a:latin typeface="Segoe U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1371600"/>
            <a:ext cx="10058400" cy="914400"/>
          </a:xfrm>
          <a:prstGeom prst="rect">
            <a:avLst/>
          </a:prstGeom>
          <a:solidFill>
            <a:srgbClr val="F2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91640" y="1371600"/>
            <a:ext cx="2011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E7D32"/>
                </a:solidFill>
                <a:latin typeface="Segoe UI"/>
              </a:rPr>
              <a:t>Pengguna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371600"/>
            <a:ext cx="75895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22B33"/>
                </a:solidFill>
                <a:latin typeface="Segoe UI"/>
              </a:rPr>
              <a:t>Warga  |  Admin  |  Sekdes  |  Kades  |  Lembaga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35808" y="2532888"/>
            <a:ext cx="640080" cy="640080"/>
          </a:xfrm>
          <a:prstGeom prst="rect">
            <a:avLst/>
          </a:prstGeom>
          <a:solidFill>
            <a:srgbClr val="F3C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2200" b="1">
                <a:solidFill>
                  <a:srgbClr val="1B5E20"/>
                </a:solidFill>
                <a:latin typeface="Segoe U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2395728"/>
            <a:ext cx="10058400" cy="914400"/>
          </a:xfrm>
          <a:prstGeom prst="rect">
            <a:avLst/>
          </a:prstGeom>
          <a:solidFill>
            <a:srgbClr val="DD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91640" y="2395728"/>
            <a:ext cx="2011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F766E"/>
                </a:solidFill>
                <a:latin typeface="Segoe UI"/>
              </a:rPr>
              <a:t>Akses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395728"/>
            <a:ext cx="75895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22B33"/>
                </a:solidFill>
                <a:latin typeface="Segoe UI"/>
              </a:rPr>
              <a:t>Web Browser  |  Smartphone (PWA)  |  QR Code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59936" y="3557016"/>
            <a:ext cx="640080" cy="640080"/>
          </a:xfrm>
          <a:prstGeom prst="rect">
            <a:avLst/>
          </a:prstGeom>
          <a:solidFill>
            <a:srgbClr val="F3C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2200" b="1">
                <a:solidFill>
                  <a:srgbClr val="1B5E20"/>
                </a:solidFill>
                <a:latin typeface="Segoe UI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63040" y="3419856"/>
            <a:ext cx="10058400" cy="914400"/>
          </a:xfrm>
          <a:prstGeom prst="rect">
            <a:avLst/>
          </a:prstGeom>
          <a:solidFill>
            <a:srgbClr val="F2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91640" y="3419856"/>
            <a:ext cx="2011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B5E20"/>
                </a:solidFill>
                <a:latin typeface="Segoe UI"/>
              </a:rPr>
              <a:t>Aplikasi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419856"/>
            <a:ext cx="75895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22B33"/>
                </a:solidFill>
                <a:latin typeface="Segoe UI"/>
              </a:rPr>
              <a:t>Laravel 11 - Modul: Surat, Admin, Berita, Event, Laporan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84064" y="4581144"/>
            <a:ext cx="640080" cy="640080"/>
          </a:xfrm>
          <a:prstGeom prst="rect">
            <a:avLst/>
          </a:prstGeom>
          <a:solidFill>
            <a:srgbClr val="F3C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2200" b="1">
                <a:solidFill>
                  <a:srgbClr val="1B5E20"/>
                </a:solidFill>
                <a:latin typeface="Segoe UI"/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0" y="4443984"/>
            <a:ext cx="10058400" cy="914400"/>
          </a:xfrm>
          <a:prstGeom prst="rect">
            <a:avLst/>
          </a:prstGeom>
          <a:solidFill>
            <a:srgbClr val="DD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91640" y="4443984"/>
            <a:ext cx="2011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E7D32"/>
                </a:solidFill>
                <a:latin typeface="Segoe UI"/>
              </a:rPr>
              <a:t>Layanan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4443984"/>
            <a:ext cx="75895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22B33"/>
                </a:solidFill>
                <a:latin typeface="Segoe UI"/>
              </a:rPr>
              <a:t>ApprovalService  |  PDF Service  |  Telegram  |  Analytics  |  Backup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08192" y="5605272"/>
            <a:ext cx="640080" cy="640080"/>
          </a:xfrm>
          <a:prstGeom prst="rect">
            <a:avLst/>
          </a:prstGeom>
          <a:solidFill>
            <a:srgbClr val="F3C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2200" b="1">
                <a:solidFill>
                  <a:srgbClr val="1B5E20"/>
                </a:solidFill>
                <a:latin typeface="Segoe UI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63040" y="5468112"/>
            <a:ext cx="10058400" cy="914400"/>
          </a:xfrm>
          <a:prstGeom prst="rect">
            <a:avLst/>
          </a:prstGeom>
          <a:solidFill>
            <a:srgbClr val="F2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91640" y="5468112"/>
            <a:ext cx="2011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F766E"/>
                </a:solidFill>
                <a:latin typeface="Segoe UI"/>
              </a:rPr>
              <a:t>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5468112"/>
            <a:ext cx="75895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22B33"/>
                </a:solidFill>
                <a:latin typeface="Segoe UI"/>
              </a:rPr>
              <a:t>MySQL  |  Enkripsi NIK  |  Audit Log  |  Backup DB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528816"/>
            <a:ext cx="109728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Segoe UI"/>
              </a:rPr>
              <a:t>Prodesa | Portal Desa Digital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3C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144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Fitur untuk Warga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09960" y="201168"/>
            <a:ext cx="868680" cy="502920"/>
          </a:xfrm>
          <a:prstGeom prst="rect">
            <a:avLst/>
          </a:prstGeom>
          <a:solidFill>
            <a:srgbClr val="F3C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800" b="1">
                <a:solidFill>
                  <a:srgbClr val="1B5E20"/>
                </a:solidFill>
                <a:latin typeface="Segoe U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782"/>
                </a:solidFill>
                <a:latin typeface="Segoe UI"/>
              </a:rPr>
              <a:t>Prodesa  |  PKM - Workshop  |  Desa Kumpay, Kec. Banjarsari, Kab. Lebak - Banten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532120" cy="1508760"/>
          </a:xfrm>
          <a:prstGeom prst="rect">
            <a:avLst/>
          </a:prstGeom>
          <a:solidFill>
            <a:srgbClr val="DD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128016" cy="15087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81328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B5E20"/>
                </a:solidFill>
                <a:latin typeface="Segoe UI"/>
              </a:rPr>
              <a:t>Registrasi &amp; 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38528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22B33"/>
                </a:solidFill>
                <a:latin typeface="Segoe UI"/>
              </a:rPr>
              <a:t>Mendaftar mandiri cukup dengan NIK, No KK, dan No HP; verifikasi 5 langkah berbantuan wizard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371600"/>
            <a:ext cx="5532120" cy="1508760"/>
          </a:xfrm>
          <a:prstGeom prst="rect">
            <a:avLst/>
          </a:prstGeom>
          <a:solidFill>
            <a:srgbClr val="DD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371600"/>
            <a:ext cx="128016" cy="15087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481328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B5E20"/>
                </a:solidFill>
                <a:latin typeface="Segoe UI"/>
              </a:rPr>
              <a:t>14 Jenis Surat Online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938528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22B33"/>
                </a:solidFill>
                <a:latin typeface="Segoe UI"/>
              </a:rPr>
              <a:t>Ajukan surat keterangan apa pun (SKTM, SKU, Domisili, dll.) dari HP/komputer, 24 jam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108960"/>
            <a:ext cx="5532120" cy="1508760"/>
          </a:xfrm>
          <a:prstGeom prst="rect">
            <a:avLst/>
          </a:prstGeom>
          <a:solidFill>
            <a:srgbClr val="DD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108960"/>
            <a:ext cx="128016" cy="15087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218688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B5E20"/>
                </a:solidFill>
                <a:latin typeface="Segoe UI"/>
              </a:rPr>
              <a:t>Pantau Status Real-Time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675888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22B33"/>
                </a:solidFill>
                <a:latin typeface="Segoe UI"/>
              </a:rPr>
              <a:t>Lihat timeline proses: terkirim, diverifikasi, disetujui, hingga siap diambil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3108960"/>
            <a:ext cx="5532120" cy="1508760"/>
          </a:xfrm>
          <a:prstGeom prst="rect">
            <a:avLst/>
          </a:prstGeom>
          <a:solidFill>
            <a:srgbClr val="DD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3108960"/>
            <a:ext cx="128016" cy="15087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3218688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B5E20"/>
                </a:solidFill>
                <a:latin typeface="Segoe UI"/>
              </a:rPr>
              <a:t>Cetak PDF + QR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675888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22B33"/>
                </a:solidFill>
                <a:latin typeface="Segoe UI"/>
              </a:rPr>
              <a:t>Surat jadi bisa diunduh dalam PDF; QR Code untuk verifikasi keaslian dokumen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846320"/>
            <a:ext cx="5532120" cy="1508760"/>
          </a:xfrm>
          <a:prstGeom prst="rect">
            <a:avLst/>
          </a:prstGeom>
          <a:solidFill>
            <a:srgbClr val="DD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846320"/>
            <a:ext cx="128016" cy="15087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956048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B5E20"/>
                </a:solidFill>
                <a:latin typeface="Segoe UI"/>
              </a:rPr>
              <a:t>Pengambilan Terjadwal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413248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22B33"/>
                </a:solidFill>
                <a:latin typeface="Segoe UI"/>
              </a:rPr>
              <a:t>Nomor antrean pengambilan surat; cek giliran cukup scan QR di kantor desa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4846320"/>
            <a:ext cx="5532120" cy="1508760"/>
          </a:xfrm>
          <a:prstGeom prst="rect">
            <a:avLst/>
          </a:prstGeom>
          <a:solidFill>
            <a:srgbClr val="DD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4846320"/>
            <a:ext cx="128016" cy="15087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4956048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B5E20"/>
                </a:solidFill>
                <a:latin typeface="Segoe UI"/>
              </a:rPr>
              <a:t>Undangan &amp; Berita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5413248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22B33"/>
                </a:solidFill>
                <a:latin typeface="Segoe UI"/>
              </a:rPr>
              <a:t>Undangan rapat/event berdasarkan RT/RW, berita desa, dan notifikasi otomatis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6528816"/>
            <a:ext cx="109728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Segoe UI"/>
              </a:rPr>
              <a:t>Prodesa | Portal Desa Digital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3C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144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Fitur untuk Perangkat Desa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09960" y="201168"/>
            <a:ext cx="868680" cy="502920"/>
          </a:xfrm>
          <a:prstGeom prst="rect">
            <a:avLst/>
          </a:prstGeom>
          <a:solidFill>
            <a:srgbClr val="F3C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800" b="1">
                <a:solidFill>
                  <a:srgbClr val="1B5E20"/>
                </a:solidFill>
                <a:latin typeface="Segoe U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782"/>
                </a:solidFill>
                <a:latin typeface="Segoe UI"/>
              </a:rPr>
              <a:t>Prodesa  |  PKM - Workshop  |  Desa Kumpay, Kec. Banjarsari, Kab. Lebak - Banten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532120" cy="1508760"/>
          </a:xfrm>
          <a:prstGeom prst="rect">
            <a:avLst/>
          </a:prstGeom>
          <a:solidFill>
            <a:srgbClr val="F2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128016" cy="1508760"/>
          </a:xfrm>
          <a:prstGeom prst="rect">
            <a:avLst/>
          </a:prstGeom>
          <a:solidFill>
            <a:srgbClr val="F3C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81328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B5E20"/>
                </a:solidFill>
                <a:latin typeface="Segoe UI"/>
              </a:rPr>
              <a:t>Dashboard &amp; Statistik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38528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22B33"/>
                </a:solidFill>
                <a:latin typeface="Segoe UI"/>
              </a:rPr>
              <a:t>Grafik layanan, antrean, dan performa operator secara otomatis (Chart.js)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371600"/>
            <a:ext cx="5532120" cy="1508760"/>
          </a:xfrm>
          <a:prstGeom prst="rect">
            <a:avLst/>
          </a:prstGeom>
          <a:solidFill>
            <a:srgbClr val="F2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371600"/>
            <a:ext cx="128016" cy="1508760"/>
          </a:xfrm>
          <a:prstGeom prst="rect">
            <a:avLst/>
          </a:prstGeom>
          <a:solidFill>
            <a:srgbClr val="F3C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481328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B5E20"/>
                </a:solidFill>
                <a:latin typeface="Segoe UI"/>
              </a:rPr>
              <a:t>Alur Persetujuan Berjenjang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938528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22B33"/>
                </a:solidFill>
                <a:latin typeface="Segoe UI"/>
              </a:rPr>
              <a:t>Operator sekdes  Kades dengan riwayat &amp; catatan setiap langkah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108960"/>
            <a:ext cx="5532120" cy="1508760"/>
          </a:xfrm>
          <a:prstGeom prst="rect">
            <a:avLst/>
          </a:prstGeom>
          <a:solidFill>
            <a:srgbClr val="F2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108960"/>
            <a:ext cx="128016" cy="1508760"/>
          </a:xfrm>
          <a:prstGeom prst="rect">
            <a:avLst/>
          </a:prstGeom>
          <a:solidFill>
            <a:srgbClr val="F3C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218688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B5E20"/>
                </a:solidFill>
                <a:latin typeface="Segoe UI"/>
              </a:rPr>
              <a:t>Kearsipan &amp; Ketatausahaan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675888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22B33"/>
                </a:solidFill>
                <a:latin typeface="Segoe UI"/>
              </a:rPr>
              <a:t>Surat masuk, surat keluar, dan disposisi tercatat dalam satu sistem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3108960"/>
            <a:ext cx="5532120" cy="1508760"/>
          </a:xfrm>
          <a:prstGeom prst="rect">
            <a:avLst/>
          </a:prstGeom>
          <a:solidFill>
            <a:srgbClr val="F2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3108960"/>
            <a:ext cx="128016" cy="1508760"/>
          </a:xfrm>
          <a:prstGeom prst="rect">
            <a:avLst/>
          </a:prstGeom>
          <a:solidFill>
            <a:srgbClr val="F3C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3218688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B5E20"/>
                </a:solidFill>
                <a:latin typeface="Segoe UI"/>
              </a:rPr>
              <a:t>Inventaris &amp; APBDesa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675888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22B33"/>
                </a:solidFill>
                <a:latin typeface="Segoe UI"/>
              </a:rPr>
              <a:t>Pencatatan aset desa serta anggaran vs realisasi oleh bidang/kategori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846320"/>
            <a:ext cx="5532120" cy="1508760"/>
          </a:xfrm>
          <a:prstGeom prst="rect">
            <a:avLst/>
          </a:prstGeom>
          <a:solidFill>
            <a:srgbClr val="F2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846320"/>
            <a:ext cx="128016" cy="1508760"/>
          </a:xfrm>
          <a:prstGeom prst="rect">
            <a:avLst/>
          </a:prstGeom>
          <a:solidFill>
            <a:srgbClr val="F3C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956048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B5E20"/>
                </a:solidFill>
                <a:latin typeface="Segoe UI"/>
              </a:rPr>
              <a:t>Laporan Desa Kuantitatif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413248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22B33"/>
                </a:solidFill>
                <a:latin typeface="Segoe UI"/>
              </a:rPr>
              <a:t>Narasi laporan 9 modul + PDF resmi (format surat &amp; LPPD) otomatis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4846320"/>
            <a:ext cx="5532120" cy="1508760"/>
          </a:xfrm>
          <a:prstGeom prst="rect">
            <a:avLst/>
          </a:prstGeom>
          <a:solidFill>
            <a:srgbClr val="F2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4846320"/>
            <a:ext cx="128016" cy="1508760"/>
          </a:xfrm>
          <a:prstGeom prst="rect">
            <a:avLst/>
          </a:prstGeom>
          <a:solidFill>
            <a:srgbClr val="F3C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4956048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B5E20"/>
                </a:solidFill>
                <a:latin typeface="Segoe UI"/>
              </a:rPr>
              <a:t>Monitoring &amp; Backup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5413248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22B33"/>
                </a:solidFill>
                <a:latin typeface="Segoe UI"/>
              </a:rPr>
              <a:t>Pantau antrean/QR, notifikasi Telegram, backup DB, dan audit log lengkap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6528816"/>
            <a:ext cx="109728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Segoe UI"/>
              </a:rPr>
              <a:t>Prodesa | Portal Desa Digital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3C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144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Alur Proses Persetujuan Surat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09960" y="201168"/>
            <a:ext cx="868680" cy="502920"/>
          </a:xfrm>
          <a:prstGeom prst="rect">
            <a:avLst/>
          </a:prstGeom>
          <a:solidFill>
            <a:srgbClr val="F3C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800" b="1">
                <a:solidFill>
                  <a:srgbClr val="1B5E20"/>
                </a:solidFill>
                <a:latin typeface="Segoe U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782"/>
                </a:solidFill>
                <a:latin typeface="Segoe UI"/>
              </a:rPr>
              <a:t>Prodesa  |  PKM - Workshop  |  Desa Kumpay, Kec. Banjarsari, Kab. Lebak - Banten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2011680" cy="173736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8720" y="1874520"/>
            <a:ext cx="731520" cy="731520"/>
          </a:xfrm>
          <a:prstGeom prst="ellipse">
            <a:avLst/>
          </a:prstGeom>
          <a:solidFill>
            <a:srgbClr val="F3C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B5E20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97480"/>
            <a:ext cx="1737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Warga</a:t>
            </a:r>
          </a:p>
          <a:p>
            <a:pPr algn="ctr">
              <a:lnSpc>
                <a:spcPct val="95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Mengajukan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78608" y="2377440"/>
            <a:ext cx="182880" cy="365760"/>
          </a:xfrm>
          <a:prstGeom prst="rightArrow">
            <a:avLst/>
          </a:prstGeom>
          <a:solidFill>
            <a:srgbClr val="F3C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61488" y="1691640"/>
            <a:ext cx="2011680" cy="173736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01568" y="1874520"/>
            <a:ext cx="731520" cy="731520"/>
          </a:xfrm>
          <a:prstGeom prst="ellipse">
            <a:avLst/>
          </a:prstGeom>
          <a:solidFill>
            <a:srgbClr val="F3C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B5E20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8648" y="2697480"/>
            <a:ext cx="1737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Operator</a:t>
            </a:r>
          </a:p>
          <a:p>
            <a:pPr algn="ctr">
              <a:lnSpc>
                <a:spcPct val="95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Memverifikasi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791456" y="2377440"/>
            <a:ext cx="182880" cy="365760"/>
          </a:xfrm>
          <a:prstGeom prst="rightArrow">
            <a:avLst/>
          </a:prstGeom>
          <a:solidFill>
            <a:srgbClr val="F3C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74336" y="1691640"/>
            <a:ext cx="2011680" cy="173736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14416" y="1874520"/>
            <a:ext cx="731520" cy="731520"/>
          </a:xfrm>
          <a:prstGeom prst="ellipse">
            <a:avLst/>
          </a:prstGeom>
          <a:solidFill>
            <a:srgbClr val="F3C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B5E20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11496" y="2697480"/>
            <a:ext cx="1737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Sekretaris</a:t>
            </a:r>
          </a:p>
          <a:p>
            <a:pPr algn="ctr">
              <a:lnSpc>
                <a:spcPct val="95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Desa Mengesahkan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004304" y="2377440"/>
            <a:ext cx="182880" cy="365760"/>
          </a:xfrm>
          <a:prstGeom prst="rightArrow">
            <a:avLst/>
          </a:prstGeom>
          <a:solidFill>
            <a:srgbClr val="F3C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87184" y="1691640"/>
            <a:ext cx="2011680" cy="173736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27264" y="1874520"/>
            <a:ext cx="731520" cy="731520"/>
          </a:xfrm>
          <a:prstGeom prst="ellipse">
            <a:avLst/>
          </a:prstGeom>
          <a:solidFill>
            <a:srgbClr val="F3C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B5E20"/>
                </a:solidFill>
                <a:latin typeface="Segoe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24344" y="2697480"/>
            <a:ext cx="1737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Kepala Desa</a:t>
            </a:r>
          </a:p>
          <a:p>
            <a:pPr algn="ctr">
              <a:lnSpc>
                <a:spcPct val="95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Persetujuan Akhir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217152" y="2377440"/>
            <a:ext cx="182880" cy="365760"/>
          </a:xfrm>
          <a:prstGeom prst="rightArrow">
            <a:avLst/>
          </a:prstGeom>
          <a:solidFill>
            <a:srgbClr val="F3C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400032" y="1691640"/>
            <a:ext cx="2011680" cy="17373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040112" y="1874520"/>
            <a:ext cx="731520" cy="731520"/>
          </a:xfrm>
          <a:prstGeom prst="ellipse">
            <a:avLst/>
          </a:prstGeom>
          <a:solidFill>
            <a:srgbClr val="F3C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B5E20"/>
                </a:solidFill>
                <a:latin typeface="Segoe U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37192" y="2697480"/>
            <a:ext cx="1737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Surat Selesai</a:t>
            </a:r>
          </a:p>
          <a:p>
            <a:pPr algn="ctr">
              <a:lnSpc>
                <a:spcPct val="95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Siap Diambil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977639"/>
            <a:ext cx="11064240" cy="1280160"/>
          </a:xfrm>
          <a:prstGeom prst="rect">
            <a:avLst/>
          </a:prstGeom>
          <a:solidFill>
            <a:srgbClr val="DD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22B33"/>
                </a:solidFill>
                <a:latin typeface="Segoe UI"/>
              </a:rPr>
              <a:t>Setiap proses terekam otomatis: riwayat persetujuan (siapa, kapan, catatan), versi dokumen, dan notifikasi.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222B33"/>
                </a:solidFill>
                <a:latin typeface="Segoe UI"/>
              </a:rPr>
              <a:t>Warga dapat dikirim kembali (revisi) bila berkas kurang lengkap, lalu mengajukan ulang secara online.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577840"/>
            <a:ext cx="2743200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Lengkap + valid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29000" y="5577840"/>
            <a:ext cx="2743200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Kurang lengkap  Revisi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5577840"/>
            <a:ext cx="2743200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Tidak valid  Ditolak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6528816"/>
            <a:ext cx="109728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Segoe UI"/>
              </a:rPr>
              <a:t>Prodesa | Portal Desa Digital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3C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144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14 Jenis Layanan Surat Administrasi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09960" y="201168"/>
            <a:ext cx="868680" cy="502920"/>
          </a:xfrm>
          <a:prstGeom prst="rect">
            <a:avLst/>
          </a:prstGeom>
          <a:solidFill>
            <a:srgbClr val="F3C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800" b="1">
                <a:solidFill>
                  <a:srgbClr val="1B5E20"/>
                </a:solidFill>
                <a:latin typeface="Segoe U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782"/>
                </a:solidFill>
                <a:latin typeface="Segoe UI"/>
              </a:rPr>
              <a:t>Prodesa  |  PKM - Workshop  |  Desa Kumpay, Kec. Banjarsari, Kab. Lebak - Banten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1417320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280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SKTM</a:t>
            </a:r>
          </a:p>
        </p:txBody>
      </p:sp>
      <p:sp>
        <p:nvSpPr>
          <p:cNvPr id="9" name="Rectangle 8"/>
          <p:cNvSpPr/>
          <p:nvPr/>
        </p:nvSpPr>
        <p:spPr>
          <a:xfrm>
            <a:off x="1965960" y="1463040"/>
            <a:ext cx="4206240" cy="457200"/>
          </a:xfrm>
          <a:prstGeom prst="rect">
            <a:avLst/>
          </a:prstGeom>
          <a:solidFill>
            <a:srgbClr val="F2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48840" y="1463040"/>
            <a:ext cx="4023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22B33"/>
                </a:solidFill>
                <a:latin typeface="Segoe UI"/>
              </a:rPr>
              <a:t>Surat Keterangan Tidak Mampu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38528"/>
            <a:ext cx="1417320" cy="4572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38528"/>
            <a:ext cx="1280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KTP Sementara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65960" y="1938528"/>
            <a:ext cx="4206240" cy="457200"/>
          </a:xfrm>
          <a:prstGeom prst="rect">
            <a:avLst/>
          </a:prstGeom>
          <a:solidFill>
            <a:srgbClr val="DD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48840" y="1938528"/>
            <a:ext cx="4023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22B33"/>
                </a:solidFill>
                <a:latin typeface="Segoe UI"/>
              </a:rPr>
              <a:t>Surat Pengganti KTP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414016"/>
            <a:ext cx="1417320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414016"/>
            <a:ext cx="1280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Akta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65960" y="2414016"/>
            <a:ext cx="4206240" cy="457200"/>
          </a:xfrm>
          <a:prstGeom prst="rect">
            <a:avLst/>
          </a:prstGeom>
          <a:solidFill>
            <a:srgbClr val="F2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48840" y="2414016"/>
            <a:ext cx="4023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22B33"/>
                </a:solidFill>
                <a:latin typeface="Segoe UI"/>
              </a:rPr>
              <a:t>Pengantar Akta Lahir/Mati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889504"/>
            <a:ext cx="1417320" cy="4572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889504"/>
            <a:ext cx="1280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SKU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65960" y="2889504"/>
            <a:ext cx="4206240" cy="457200"/>
          </a:xfrm>
          <a:prstGeom prst="rect">
            <a:avLst/>
          </a:prstGeom>
          <a:solidFill>
            <a:srgbClr val="DD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48840" y="2889504"/>
            <a:ext cx="4023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22B33"/>
                </a:solidFill>
                <a:latin typeface="Segoe UI"/>
              </a:rPr>
              <a:t>Surat Keterangan Usaha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364992"/>
            <a:ext cx="1417320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364992"/>
            <a:ext cx="1280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Domisili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65960" y="3364992"/>
            <a:ext cx="4206240" cy="457200"/>
          </a:xfrm>
          <a:prstGeom prst="rect">
            <a:avLst/>
          </a:prstGeom>
          <a:solidFill>
            <a:srgbClr val="F2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48840" y="3364992"/>
            <a:ext cx="4023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22B33"/>
                </a:solidFill>
                <a:latin typeface="Segoe UI"/>
              </a:rPr>
              <a:t>Surat Keterangan Domisili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840480"/>
            <a:ext cx="1417320" cy="4572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840480"/>
            <a:ext cx="1280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SKKB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65960" y="3840480"/>
            <a:ext cx="4206240" cy="457200"/>
          </a:xfrm>
          <a:prstGeom prst="rect">
            <a:avLst/>
          </a:prstGeom>
          <a:solidFill>
            <a:srgbClr val="DD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48840" y="3840480"/>
            <a:ext cx="4023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22B33"/>
                </a:solidFill>
                <a:latin typeface="Segoe UI"/>
              </a:rPr>
              <a:t>Surat Kelakuan Baik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315968"/>
            <a:ext cx="1417320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315968"/>
            <a:ext cx="1280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Belum Menikah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65960" y="4315968"/>
            <a:ext cx="4206240" cy="457200"/>
          </a:xfrm>
          <a:prstGeom prst="rect">
            <a:avLst/>
          </a:prstGeom>
          <a:solidFill>
            <a:srgbClr val="F2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48840" y="4315968"/>
            <a:ext cx="4023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22B33"/>
                </a:solidFill>
                <a:latin typeface="Segoe UI"/>
              </a:rPr>
              <a:t>Surat Keterangan Lajang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791456"/>
            <a:ext cx="1417320" cy="4572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791456"/>
            <a:ext cx="1280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Izin Keramaian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65960" y="4791456"/>
            <a:ext cx="4206240" cy="457200"/>
          </a:xfrm>
          <a:prstGeom prst="rect">
            <a:avLst/>
          </a:prstGeom>
          <a:solidFill>
            <a:srgbClr val="DD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48840" y="4791456"/>
            <a:ext cx="4023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22B33"/>
                </a:solidFill>
                <a:latin typeface="Segoe UI"/>
              </a:rPr>
              <a:t>Izin Kegiatan/Acara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72200" y="1463040"/>
            <a:ext cx="1417320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1463040"/>
            <a:ext cx="1280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Ahli Waris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89520" y="1463040"/>
            <a:ext cx="4206240" cy="457200"/>
          </a:xfrm>
          <a:prstGeom prst="rect">
            <a:avLst/>
          </a:prstGeom>
          <a:solidFill>
            <a:srgbClr val="F2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0" y="1463040"/>
            <a:ext cx="4023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22B33"/>
                </a:solidFill>
                <a:latin typeface="Segoe UI"/>
              </a:rPr>
              <a:t>Surat Keterangan Ahli Waris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1938528"/>
            <a:ext cx="1417320" cy="4572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63640" y="1938528"/>
            <a:ext cx="1280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Kepemilikan Tanah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89520" y="1938528"/>
            <a:ext cx="4206240" cy="457200"/>
          </a:xfrm>
          <a:prstGeom prst="rect">
            <a:avLst/>
          </a:prstGeom>
          <a:solidFill>
            <a:srgbClr val="DD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0" y="1938528"/>
            <a:ext cx="4023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22B33"/>
                </a:solidFill>
                <a:latin typeface="Segoe UI"/>
              </a:rPr>
              <a:t>Keterangan Tanah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72200" y="2414016"/>
            <a:ext cx="1417320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63640" y="2414016"/>
            <a:ext cx="1280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SKCK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589520" y="2414016"/>
            <a:ext cx="4206240" cy="457200"/>
          </a:xfrm>
          <a:prstGeom prst="rect">
            <a:avLst/>
          </a:prstGeom>
          <a:solidFill>
            <a:srgbClr val="F2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72400" y="2414016"/>
            <a:ext cx="4023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22B33"/>
                </a:solidFill>
                <a:latin typeface="Segoe UI"/>
              </a:rPr>
              <a:t>Surat Pengantar SKCK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72200" y="2889504"/>
            <a:ext cx="1417320" cy="4572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63640" y="2889504"/>
            <a:ext cx="1280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Penghasilan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589520" y="2889504"/>
            <a:ext cx="4206240" cy="457200"/>
          </a:xfrm>
          <a:prstGeom prst="rect">
            <a:avLst/>
          </a:prstGeom>
          <a:solidFill>
            <a:srgbClr val="DD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72400" y="2889504"/>
            <a:ext cx="4023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22B33"/>
                </a:solidFill>
                <a:latin typeface="Segoe UI"/>
              </a:rPr>
              <a:t>Surat Keterangan Penghasilan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72200" y="3364992"/>
            <a:ext cx="1417320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63640" y="3364992"/>
            <a:ext cx="1280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Janda/Duda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89520" y="3364992"/>
            <a:ext cx="4206240" cy="457200"/>
          </a:xfrm>
          <a:prstGeom prst="rect">
            <a:avLst/>
          </a:prstGeom>
          <a:solidFill>
            <a:srgbClr val="F2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772400" y="3364992"/>
            <a:ext cx="4023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22B33"/>
                </a:solidFill>
                <a:latin typeface="Segoe UI"/>
              </a:rPr>
              <a:t>Surat Keterangan Janda/Duda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72200" y="3840480"/>
            <a:ext cx="1417320" cy="4572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63640" y="3840480"/>
            <a:ext cx="1280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Pindah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589520" y="3840480"/>
            <a:ext cx="4206240" cy="457200"/>
          </a:xfrm>
          <a:prstGeom prst="rect">
            <a:avLst/>
          </a:prstGeom>
          <a:solidFill>
            <a:srgbClr val="DD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772400" y="3840480"/>
            <a:ext cx="4023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22B33"/>
                </a:solidFill>
                <a:latin typeface="Segoe UI"/>
              </a:rPr>
              <a:t>Surat Keterangan Pindah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72200" y="4315968"/>
            <a:ext cx="1417320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63640" y="4315968"/>
            <a:ext cx="1280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SSL dll.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589520" y="4315968"/>
            <a:ext cx="4206240" cy="457200"/>
          </a:xfrm>
          <a:prstGeom prst="rect">
            <a:avLst/>
          </a:prstGeom>
          <a:solidFill>
            <a:srgbClr val="F2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772400" y="4315968"/>
            <a:ext cx="4023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22B33"/>
                </a:solidFill>
                <a:latin typeface="Segoe UI"/>
              </a:rPr>
              <a:t>Konfigurasi surat dapat ditambah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8640" y="5394960"/>
            <a:ext cx="11064240" cy="685800"/>
          </a:xfrm>
          <a:prstGeom prst="rect">
            <a:avLst/>
          </a:prstGeom>
          <a:solidFill>
            <a:srgbClr val="DD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22960" y="5468112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22B33"/>
                </a:solidFill>
                <a:latin typeface="Segoe UI"/>
              </a:rPr>
              <a:t>Formulir menyesuaikan data masing-masing surat secara dinamis; kop surat &amp; nomor surat dihasilkan otomatis, mudah diubah oleh admin.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02920" y="6528816"/>
            <a:ext cx="109728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Segoe UI"/>
              </a:rPr>
              <a:t>Prodesa | Portal Desa Digital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3C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144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Keamanan dan Keandalan Sistem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09960" y="201168"/>
            <a:ext cx="868680" cy="502920"/>
          </a:xfrm>
          <a:prstGeom prst="rect">
            <a:avLst/>
          </a:prstGeom>
          <a:solidFill>
            <a:srgbClr val="F3C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800" b="1">
                <a:solidFill>
                  <a:srgbClr val="1B5E20"/>
                </a:solidFill>
                <a:latin typeface="Segoe U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782"/>
                </a:solidFill>
                <a:latin typeface="Segoe UI"/>
              </a:rPr>
              <a:t>Prodesa  |  PKM - Workshop  |  Desa Kumpay, Kec. Banjarsari, Kab. Lebak - Banten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532120" cy="1417320"/>
          </a:xfrm>
          <a:prstGeom prst="rect">
            <a:avLst/>
          </a:prstGeom>
          <a:solidFill>
            <a:srgbClr val="F2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481328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444752"/>
            <a:ext cx="4617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B5E20"/>
                </a:solidFill>
                <a:latin typeface="Segoe UI"/>
              </a:rPr>
              <a:t>Enkripsi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82880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222B33"/>
                </a:solidFill>
                <a:latin typeface="Segoe UI"/>
              </a:rPr>
              <a:t>NIK, No KK, No HP dienkripsi AES-256; pencarian memakai hash (indeks buta).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371600"/>
            <a:ext cx="5532120" cy="1417320"/>
          </a:xfrm>
          <a:prstGeom prst="rect">
            <a:avLst/>
          </a:prstGeom>
          <a:solidFill>
            <a:srgbClr val="F2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37960" y="1481328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444752"/>
            <a:ext cx="4617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B5E20"/>
                </a:solidFill>
                <a:latin typeface="Segoe UI"/>
              </a:rPr>
              <a:t>Login Aman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82880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222B33"/>
                </a:solidFill>
                <a:latin typeface="Segoe UI"/>
              </a:rPr>
              <a:t>Login berbasis NIK, captcha berlapis (Turnstile, reCAPTCHA, matematika) &amp; pembatasan percobaan.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971800"/>
            <a:ext cx="5532120" cy="1417320"/>
          </a:xfrm>
          <a:prstGeom prst="rect">
            <a:avLst/>
          </a:prstGeom>
          <a:solidFill>
            <a:srgbClr val="F2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3081528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044952"/>
            <a:ext cx="4617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B5E20"/>
                </a:solidFill>
                <a:latin typeface="Segoe UI"/>
              </a:rPr>
              <a:t>Hak Akses (RBAC)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42900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222B33"/>
                </a:solidFill>
                <a:latin typeface="Segoe UI"/>
              </a:rPr>
              <a:t>8 peran dengan 37 izin; setiap menu hanya dapat diakses oleh petugas berwenang.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2971800"/>
            <a:ext cx="5532120" cy="1417320"/>
          </a:xfrm>
          <a:prstGeom prst="rect">
            <a:avLst/>
          </a:prstGeom>
          <a:solidFill>
            <a:srgbClr val="F2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37960" y="3081528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044952"/>
            <a:ext cx="4617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B5E20"/>
                </a:solidFill>
                <a:latin typeface="Segoe UI"/>
              </a:rPr>
              <a:t>Audit Trail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42900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222B33"/>
                </a:solidFill>
                <a:latin typeface="Segoe UI"/>
              </a:rPr>
              <a:t>Setiap aksi penting tercatat: siapa, kapan, dan apa yang diubah (log aktivitas).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572000"/>
            <a:ext cx="5532120" cy="1417320"/>
          </a:xfrm>
          <a:prstGeom prst="rect">
            <a:avLst/>
          </a:prstGeom>
          <a:solidFill>
            <a:srgbClr val="F2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4681728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645152"/>
            <a:ext cx="4617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B5E20"/>
                </a:solidFill>
                <a:latin typeface="Segoe UI"/>
              </a:rPr>
              <a:t>Verifikasi QR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02920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222B33"/>
                </a:solidFill>
                <a:latin typeface="Segoe UI"/>
              </a:rPr>
              <a:t>Dokumen memiliki QR keaslian; siapa pun bisa memverifikasi surat secara online.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4572000"/>
            <a:ext cx="5532120" cy="1417320"/>
          </a:xfrm>
          <a:prstGeom prst="rect">
            <a:avLst/>
          </a:prstGeom>
          <a:solidFill>
            <a:srgbClr val="F2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37960" y="4681728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4645152"/>
            <a:ext cx="4617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B5E20"/>
                </a:solidFill>
                <a:latin typeface="Segoe UI"/>
              </a:rPr>
              <a:t>Backup Otomatis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502920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222B33"/>
                </a:solidFill>
                <a:latin typeface="Segoe UI"/>
              </a:rPr>
              <a:t>Database dapat di-backup (dump SQL) dan diunduh sewaktu-waktu oleh admin.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6528816"/>
            <a:ext cx="109728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Segoe UI"/>
              </a:rPr>
              <a:t>Prodesa | Portal Desa Digital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3C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144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Manfaat dan Dampak yang Diharapkan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09960" y="201168"/>
            <a:ext cx="868680" cy="502920"/>
          </a:xfrm>
          <a:prstGeom prst="rect">
            <a:avLst/>
          </a:prstGeom>
          <a:solidFill>
            <a:srgbClr val="F3C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800" b="1">
                <a:solidFill>
                  <a:srgbClr val="1B5E20"/>
                </a:solidFill>
                <a:latin typeface="Segoe U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782"/>
                </a:solidFill>
                <a:latin typeface="Segoe UI"/>
              </a:rPr>
              <a:t>Prodesa  |  PKM - Workshop  |  Desa Kumpay, Kec. Banjarsari, Kab. Lebak - Banten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532120" cy="1920240"/>
          </a:xfrm>
          <a:prstGeom prst="rect">
            <a:avLst/>
          </a:prstGeom>
          <a:solidFill>
            <a:srgbClr val="DD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128016" cy="1920240"/>
          </a:xfrm>
          <a:prstGeom prst="rect">
            <a:avLst/>
          </a:prstGeom>
          <a:solidFill>
            <a:srgbClr val="F3C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81328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B5E20"/>
                </a:solidFill>
                <a:latin typeface="Segoe UI"/>
              </a:rPr>
              <a:t>Waktu Layanan Lebih Cepat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38528"/>
            <a:ext cx="49377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22B33"/>
                </a:solidFill>
                <a:latin typeface="Segoe UI"/>
              </a:rPr>
              <a:t>Pengurusan surat yang semula berhari-hari dapat berkurang signifikan karena proses berjalan digital dan berjenjang.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371600"/>
            <a:ext cx="5532120" cy="1920240"/>
          </a:xfrm>
          <a:prstGeom prst="rect">
            <a:avLst/>
          </a:prstGeom>
          <a:solidFill>
            <a:srgbClr val="F2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371600"/>
            <a:ext cx="128016" cy="19202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481328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B5E20"/>
                </a:solidFill>
                <a:latin typeface="Segoe UI"/>
              </a:rPr>
              <a:t>Data Terpusat &amp; Akurat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938528"/>
            <a:ext cx="49377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22B33"/>
                </a:solidFill>
                <a:latin typeface="Segoe UI"/>
              </a:rPr>
              <a:t>Arsip surat, ketatausahaan, aset, anggaran, dan warga tersimpan rapi dalam satu basis data terkontrol.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520440"/>
            <a:ext cx="5532120" cy="1920240"/>
          </a:xfrm>
          <a:prstGeom prst="rect">
            <a:avLst/>
          </a:prstGeom>
          <a:solidFill>
            <a:srgbClr val="DD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520440"/>
            <a:ext cx="128016" cy="1920240"/>
          </a:xfrm>
          <a:prstGeom prst="rect">
            <a:avLst/>
          </a:prstGeom>
          <a:solidFill>
            <a:srgbClr val="F3C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630168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B5E20"/>
                </a:solidFill>
                <a:latin typeface="Segoe UI"/>
              </a:rPr>
              <a:t>Transparan &amp; Akuntabel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087368"/>
            <a:ext cx="49377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22B33"/>
                </a:solidFill>
                <a:latin typeface="Segoe UI"/>
              </a:rPr>
              <a:t>Warga memantau status secara real-time; kinerja perangkat desa terdokumentasi dan terukur.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3520440"/>
            <a:ext cx="5532120" cy="1920240"/>
          </a:xfrm>
          <a:prstGeom prst="rect">
            <a:avLst/>
          </a:prstGeom>
          <a:solidFill>
            <a:srgbClr val="F2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3520440"/>
            <a:ext cx="128016" cy="19202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3630168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B5E20"/>
                </a:solidFill>
                <a:latin typeface="Segoe UI"/>
              </a:rPr>
              <a:t>Beban Kerja Turun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087368"/>
            <a:ext cx="49377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22B33"/>
                </a:solidFill>
                <a:latin typeface="Segoe UI"/>
              </a:rPr>
              <a:t>Formulir otomatis, nomor surat &amp; PDF otomatis membuat staf fokus pada verifikasi dan pelayanan.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528816"/>
            <a:ext cx="109728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Segoe UI"/>
              </a:rPr>
              <a:t>Prodesa | Portal Desa Digital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3C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144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Kesimpulan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09960" y="201168"/>
            <a:ext cx="868680" cy="502920"/>
          </a:xfrm>
          <a:prstGeom prst="rect">
            <a:avLst/>
          </a:prstGeom>
          <a:solidFill>
            <a:srgbClr val="F3C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800" b="1">
                <a:solidFill>
                  <a:srgbClr val="1B5E20"/>
                </a:solidFill>
                <a:latin typeface="Segoe U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782"/>
                </a:solidFill>
                <a:latin typeface="Segoe UI"/>
              </a:rPr>
              <a:t>Prodesa  |  PKM - Workshop  |  Desa Kumpay, Kec. Banjarsari, Kab. Lebak - Banten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6492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600" b="1">
                <a:solidFill>
                  <a:srgbClr val="2E7D32"/>
                </a:solidFill>
                <a:latin typeface="Segoe UI"/>
              </a:rPr>
              <a:t>■  </a:t>
            </a:r>
            <a:r>
              <a:rPr sz="1600" b="1">
                <a:solidFill>
                  <a:srgbClr val="222B33"/>
                </a:solidFill>
                <a:latin typeface="Segoe UI"/>
              </a:rPr>
              <a:t>Sistem PRODESA </a:t>
            </a:r>
            <a:r>
              <a:rPr sz="1600">
                <a:solidFill>
                  <a:srgbClr val="222B33"/>
                </a:solidFill>
                <a:latin typeface="Segoe UI"/>
              </a:rPr>
              <a:t>berhasil menghadirkan layanan administrasi desa yang terdigitalisasi secara menyeluruh: dari pengajuan surat, persetujuan berjenjang, hingga arsip dan laporan desa.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600" b="1">
                <a:solidFill>
                  <a:srgbClr val="2E7D32"/>
                </a:solidFill>
                <a:latin typeface="Segoe UI"/>
              </a:rPr>
              <a:t>■  </a:t>
            </a:r>
            <a:r>
              <a:rPr sz="1600" b="1">
                <a:solidFill>
                  <a:srgbClr val="222B33"/>
                </a:solidFill>
                <a:latin typeface="Segoe UI"/>
              </a:rPr>
              <a:t>Efisiensi meningkat </a:t>
            </a:r>
            <a:r>
              <a:rPr sz="1600">
                <a:solidFill>
                  <a:srgbClr val="222B33"/>
                </a:solidFill>
                <a:latin typeface="Segoe UI"/>
              </a:rPr>
              <a:t>karena formulir, penomoran, dan PDF dibuat otomatis sehingga proses lebih cepat dan minim kesalahan.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600" b="1">
                <a:solidFill>
                  <a:srgbClr val="2E7D32"/>
                </a:solidFill>
                <a:latin typeface="Segoe UI"/>
              </a:rPr>
              <a:t>■  </a:t>
            </a:r>
            <a:r>
              <a:rPr sz="1600" b="1">
                <a:solidFill>
                  <a:srgbClr val="222B33"/>
                </a:solidFill>
                <a:latin typeface="Segoe UI"/>
              </a:rPr>
              <a:t>Transparansi terjaga </a:t>
            </a:r>
            <a:r>
              <a:rPr sz="1600">
                <a:solidFill>
                  <a:srgbClr val="222B33"/>
                </a:solidFill>
                <a:latin typeface="Segoe UI"/>
              </a:rPr>
              <a:t>melalui timeline status pengajuan, QR verifikasi dokumen, dan audit log seluruh aktivitas.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600" b="1">
                <a:solidFill>
                  <a:srgbClr val="2E7D32"/>
                </a:solidFill>
                <a:latin typeface="Segoe UI"/>
              </a:rPr>
              <a:t>■  </a:t>
            </a:r>
            <a:r>
              <a:rPr sz="1600" b="1">
                <a:solidFill>
                  <a:srgbClr val="222B33"/>
                </a:solidFill>
                <a:latin typeface="Segoe UI"/>
              </a:rPr>
              <a:t>Model berkelanjutan </a:t>
            </a:r>
            <a:r>
              <a:rPr sz="1600">
                <a:solidFill>
                  <a:srgbClr val="222B33"/>
                </a:solidFill>
                <a:latin typeface="Segoe UI"/>
              </a:rPr>
              <a:t>dengan backup data, pembaruan aplikasi, dan dukungan pelatihan berkelanjutan bagi perangkat desa.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1325880"/>
            <a:ext cx="4069080" cy="475488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554480"/>
            <a:ext cx="3474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3C623"/>
                </a:solidFill>
                <a:latin typeface="Segoe UI"/>
              </a:rPr>
              <a:t>Kunci Keberhasilan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18120" y="2286000"/>
            <a:ext cx="3429000" cy="5029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Komitmen Kepala Desa &amp; Perangkat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2971800"/>
            <a:ext cx="3429000" cy="5029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Registrasi warga yang mudah (NIK)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3657600"/>
            <a:ext cx="3429000" cy="5029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Peran SDM yang jelas (RBAC)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18120" y="4343400"/>
            <a:ext cx="3429000" cy="5029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Dokumentasi &amp; arsip digital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18120" y="5029200"/>
            <a:ext cx="3429000" cy="5029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Pendampingan &amp; evaluasi rutin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528816"/>
            <a:ext cx="109728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Segoe UI"/>
              </a:rPr>
              <a:t>Prodesa | Portal Desa Digital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3C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144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Rencana Tindak Lanjut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09960" y="201168"/>
            <a:ext cx="868680" cy="502920"/>
          </a:xfrm>
          <a:prstGeom prst="rect">
            <a:avLst/>
          </a:prstGeom>
          <a:solidFill>
            <a:srgbClr val="F3C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800" b="1">
                <a:solidFill>
                  <a:srgbClr val="1B5E20"/>
                </a:solidFill>
                <a:latin typeface="Segoe U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782"/>
                </a:solidFill>
                <a:latin typeface="Segoe UI"/>
              </a:rPr>
              <a:t>Prodesa  |  PKM - Workshop  |  Desa Kumpay, Kec. Banjarsari, Kab. Lebak - Banten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700" b="1">
                <a:solidFill>
                  <a:srgbClr val="2E7D32"/>
                </a:solidFill>
                <a:latin typeface="Segoe UI"/>
              </a:rPr>
              <a:t>1.  </a:t>
            </a:r>
            <a:r>
              <a:rPr sz="1700" b="1">
                <a:solidFill>
                  <a:srgbClr val="222B33"/>
                </a:solidFill>
                <a:latin typeface="Segoe UI"/>
              </a:rPr>
              <a:t>Serah terima &amp; pelatihan</a:t>
            </a:r>
            <a:r>
              <a:rPr sz="1700">
                <a:solidFill>
                  <a:srgbClr val="222B33"/>
                </a:solidFill>
                <a:latin typeface="Segoe UI"/>
              </a:rPr>
              <a:t>Pendampingan langsung bagi operator, sekdes, kades, dan warga di Desa Kumpay.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700" b="1">
                <a:solidFill>
                  <a:srgbClr val="2E7D32"/>
                </a:solidFill>
                <a:latin typeface="Segoe UI"/>
              </a:rPr>
              <a:t>2.  </a:t>
            </a:r>
            <a:r>
              <a:rPr sz="1700" b="1">
                <a:solidFill>
                  <a:srgbClr val="222B33"/>
                </a:solidFill>
                <a:latin typeface="Segoe UI"/>
              </a:rPr>
              <a:t>Data master desa</a:t>
            </a:r>
            <a:r>
              <a:rPr sz="1700">
                <a:solidFill>
                  <a:srgbClr val="222B33"/>
                </a:solidFill>
                <a:latin typeface="Segoe UI"/>
              </a:rPr>
              <a:t>Pendataan warga, lembaga, dan konfigurasi kop surat/kode klasifikasi yang disesuaikan.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700" b="1">
                <a:solidFill>
                  <a:srgbClr val="2E7D32"/>
                </a:solidFill>
                <a:latin typeface="Segoe UI"/>
              </a:rPr>
              <a:t>3.  </a:t>
            </a:r>
            <a:r>
              <a:rPr sz="1700" b="1">
                <a:solidFill>
                  <a:srgbClr val="222B33"/>
                </a:solidFill>
                <a:latin typeface="Segoe UI"/>
              </a:rPr>
              <a:t>Sosialisasi warga</a:t>
            </a:r>
            <a:r>
              <a:rPr sz="1700">
                <a:solidFill>
                  <a:srgbClr val="222B33"/>
                </a:solidFill>
                <a:latin typeface="Segoe UI"/>
              </a:rPr>
              <a:t>Penyebarluasan cara daftar dan mengajukan surat secara online kepada masyarakat.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700" b="1">
                <a:solidFill>
                  <a:srgbClr val="2E7D32"/>
                </a:solidFill>
                <a:latin typeface="Segoe UI"/>
              </a:rPr>
              <a:t>4.  </a:t>
            </a:r>
            <a:r>
              <a:rPr sz="1700" b="1">
                <a:solidFill>
                  <a:srgbClr val="222B33"/>
                </a:solidFill>
                <a:latin typeface="Segoe UI"/>
              </a:rPr>
              <a:t>Pemeliharaan sistem</a:t>
            </a:r>
            <a:r>
              <a:rPr sz="1700">
                <a:solidFill>
                  <a:srgbClr val="222B33"/>
                </a:solidFill>
                <a:latin typeface="Segoe UI"/>
              </a:rPr>
              <a:t>Backup rutin, pembaruan fitur, dan dukungan teknis berkala oleh tim PKM.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700" b="1">
                <a:solidFill>
                  <a:srgbClr val="2E7D32"/>
                </a:solidFill>
                <a:latin typeface="Segoe UI"/>
              </a:rPr>
              <a:t>5.  </a:t>
            </a:r>
            <a:r>
              <a:rPr sz="1700" b="1">
                <a:solidFill>
                  <a:srgbClr val="222B33"/>
                </a:solidFill>
                <a:latin typeface="Segoe UI"/>
              </a:rPr>
              <a:t>Evaluasi &amp; pengembangan</a:t>
            </a:r>
            <a:r>
              <a:rPr sz="1700">
                <a:solidFill>
                  <a:srgbClr val="222B33"/>
                </a:solidFill>
                <a:latin typeface="Segoe UI"/>
              </a:rPr>
              <a:t>Kaji ulang efektivitas layanan dan pengembangan modul lanjutan sesuai kebutuhan desa.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28816"/>
            <a:ext cx="109728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Segoe UI"/>
              </a:rPr>
              <a:t>Prodesa | Portal Desa Digital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463040"/>
            <a:ext cx="109728" cy="2011680"/>
          </a:xfrm>
          <a:prstGeom prst="rect">
            <a:avLst/>
          </a:prstGeom>
          <a:solidFill>
            <a:srgbClr val="F3C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46304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Segoe UI"/>
              </a:rPr>
              <a:t>Terima Kasih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468880"/>
            <a:ext cx="9875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DDF0DD"/>
                </a:solidFill>
                <a:latin typeface="Segoe UI"/>
              </a:rPr>
              <a:t>Mari bersama mewujudkan Desa Kumpay yang lebih efisien, transparan, dan siap digital.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57600"/>
            <a:ext cx="9875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3C623"/>
                </a:solidFill>
                <a:latin typeface="Segoe UI"/>
              </a:rPr>
              <a:t>Sesi Tanya Jawab &amp; Demo Aplikasi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5120640"/>
            <a:ext cx="4572000" cy="5486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Prodesa - Portal Desa 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5806440"/>
            <a:ext cx="9875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DDF0DD"/>
                </a:solidFill>
                <a:latin typeface="Segoe UI"/>
              </a:rPr>
              <a:t>PKM - Pengabdian kepada Masyarakat  |  Desa Kumpay, Kec. Banjarsari, Kab. Lebak, Banten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